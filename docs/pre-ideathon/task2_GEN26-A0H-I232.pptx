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1882D4-3828-4A91-B37B-063FA713259D}" v="5" dt="2026-10-09T18:22:45.3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shini S" userId="7f97dd7a3f900b65" providerId="LiveId" clId="{1B1256EF-E762-47BA-A5A0-89FD05FFACF3}"/>
    <pc:docChg chg="undo custSel modSld">
      <pc:chgData name="Dharshini S" userId="7f97dd7a3f900b65" providerId="LiveId" clId="{1B1256EF-E762-47BA-A5A0-89FD05FFACF3}" dt="2026-10-09T18:24:20.682" v="224" actId="20577"/>
      <pc:docMkLst>
        <pc:docMk/>
      </pc:docMkLst>
      <pc:sldChg chg="modSp mod">
        <pc:chgData name="Dharshini S" userId="7f97dd7a3f900b65" providerId="LiveId" clId="{1B1256EF-E762-47BA-A5A0-89FD05FFACF3}" dt="2026-10-09T18:22:45.314" v="144"/>
        <pc:sldMkLst>
          <pc:docMk/>
          <pc:sldMk cId="0" sldId="257"/>
        </pc:sldMkLst>
        <pc:spChg chg="mod">
          <ac:chgData name="Dharshini S" userId="7f97dd7a3f900b65" providerId="LiveId" clId="{1B1256EF-E762-47BA-A5A0-89FD05FFACF3}" dt="2026-10-09T18:22:45.314" v="144"/>
          <ac:spMkLst>
            <pc:docMk/>
            <pc:sldMk cId="0" sldId="257"/>
            <ac:spMk id="10" creationId="{00000000-0000-0000-0000-000000000000}"/>
          </ac:spMkLst>
        </pc:spChg>
      </pc:sldChg>
      <pc:sldChg chg="modSp mod">
        <pc:chgData name="Dharshini S" userId="7f97dd7a3f900b65" providerId="LiveId" clId="{1B1256EF-E762-47BA-A5A0-89FD05FFACF3}" dt="2026-10-09T18:23:01.098" v="145" actId="12"/>
        <pc:sldMkLst>
          <pc:docMk/>
          <pc:sldMk cId="0" sldId="259"/>
        </pc:sldMkLst>
        <pc:spChg chg="mod">
          <ac:chgData name="Dharshini S" userId="7f97dd7a3f900b65" providerId="LiveId" clId="{1B1256EF-E762-47BA-A5A0-89FD05FFACF3}" dt="2026-10-09T18:21:57.433" v="103" actId="14100"/>
          <ac:spMkLst>
            <pc:docMk/>
            <pc:sldMk cId="0" sldId="259"/>
            <ac:spMk id="6" creationId="{00000000-0000-0000-0000-000000000000}"/>
          </ac:spMkLst>
        </pc:spChg>
        <pc:spChg chg="mod">
          <ac:chgData name="Dharshini S" userId="7f97dd7a3f900b65" providerId="LiveId" clId="{1B1256EF-E762-47BA-A5A0-89FD05FFACF3}" dt="2026-10-09T18:21:15.375" v="86" actId="1076"/>
          <ac:spMkLst>
            <pc:docMk/>
            <pc:sldMk cId="0" sldId="259"/>
            <ac:spMk id="9" creationId="{00000000-0000-0000-0000-000000000000}"/>
          </ac:spMkLst>
        </pc:spChg>
        <pc:spChg chg="mod">
          <ac:chgData name="Dharshini S" userId="7f97dd7a3f900b65" providerId="LiveId" clId="{1B1256EF-E762-47BA-A5A0-89FD05FFACF3}" dt="2026-10-09T18:23:01.098" v="145" actId="12"/>
          <ac:spMkLst>
            <pc:docMk/>
            <pc:sldMk cId="0" sldId="259"/>
            <ac:spMk id="10" creationId="{00000000-0000-0000-0000-000000000000}"/>
          </ac:spMkLst>
        </pc:spChg>
      </pc:sldChg>
      <pc:sldChg chg="modSp mod">
        <pc:chgData name="Dharshini S" userId="7f97dd7a3f900b65" providerId="LiveId" clId="{1B1256EF-E762-47BA-A5A0-89FD05FFACF3}" dt="2026-10-09T18:22:28.658" v="140" actId="20577"/>
        <pc:sldMkLst>
          <pc:docMk/>
          <pc:sldMk cId="0" sldId="260"/>
        </pc:sldMkLst>
        <pc:spChg chg="mod">
          <ac:chgData name="Dharshini S" userId="7f97dd7a3f900b65" providerId="LiveId" clId="{1B1256EF-E762-47BA-A5A0-89FD05FFACF3}" dt="2026-10-09T18:22:28.658" v="140" actId="20577"/>
          <ac:spMkLst>
            <pc:docMk/>
            <pc:sldMk cId="0" sldId="260"/>
            <ac:spMk id="6" creationId="{00000000-0000-0000-0000-000000000000}"/>
          </ac:spMkLst>
        </pc:spChg>
      </pc:sldChg>
      <pc:sldChg chg="modSp mod">
        <pc:chgData name="Dharshini S" userId="7f97dd7a3f900b65" providerId="LiveId" clId="{1B1256EF-E762-47BA-A5A0-89FD05FFACF3}" dt="2026-10-09T18:24:00.850" v="199" actId="20577"/>
        <pc:sldMkLst>
          <pc:docMk/>
          <pc:sldMk cId="0" sldId="262"/>
        </pc:sldMkLst>
        <pc:spChg chg="mod">
          <ac:chgData name="Dharshini S" userId="7f97dd7a3f900b65" providerId="LiveId" clId="{1B1256EF-E762-47BA-A5A0-89FD05FFACF3}" dt="2026-10-09T18:24:00.850" v="199" actId="20577"/>
          <ac:spMkLst>
            <pc:docMk/>
            <pc:sldMk cId="0" sldId="262"/>
            <ac:spMk id="6" creationId="{00000000-0000-0000-0000-000000000000}"/>
          </ac:spMkLst>
        </pc:spChg>
        <pc:spChg chg="mod">
          <ac:chgData name="Dharshini S" userId="7f97dd7a3f900b65" providerId="LiveId" clId="{1B1256EF-E762-47BA-A5A0-89FD05FFACF3}" dt="2026-10-09T18:17:58.899" v="54" actId="20577"/>
          <ac:spMkLst>
            <pc:docMk/>
            <pc:sldMk cId="0" sldId="262"/>
            <ac:spMk id="10" creationId="{00000000-0000-0000-0000-000000000000}"/>
          </ac:spMkLst>
        </pc:spChg>
      </pc:sldChg>
      <pc:sldChg chg="modSp mod">
        <pc:chgData name="Dharshini S" userId="7f97dd7a3f900b65" providerId="LiveId" clId="{1B1256EF-E762-47BA-A5A0-89FD05FFACF3}" dt="2026-10-09T18:24:20.682" v="224" actId="20577"/>
        <pc:sldMkLst>
          <pc:docMk/>
          <pc:sldMk cId="0" sldId="263"/>
        </pc:sldMkLst>
        <pc:spChg chg="mod">
          <ac:chgData name="Dharshini S" userId="7f97dd7a3f900b65" providerId="LiveId" clId="{1B1256EF-E762-47BA-A5A0-89FD05FFACF3}" dt="2026-10-09T18:24:20.682" v="224" actId="20577"/>
          <ac:spMkLst>
            <pc:docMk/>
            <pc:sldMk cId="0" sldId="263"/>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7331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lang="en-US" sz="1600" i="1" dirty="0">
                <a:solidFill>
                  <a:schemeClr val="accent6"/>
                </a:solidFill>
              </a:rPr>
              <a:t>Introduce your team and the domain you have chosen</a:t>
            </a:r>
            <a:endParaRPr lang="en-US" sz="1600" dirty="0"/>
          </a:p>
        </p:txBody>
      </p:sp>
      <p:sp>
        <p:nvSpPr>
          <p:cNvPr id="15" name="Cover Fields"/>
          <p:cNvSpPr txBox="1"/>
          <p:nvPr/>
        </p:nvSpPr>
        <p:spPr>
          <a:xfrm>
            <a:off x="548640" y="370332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a:t>
            </a:r>
            <a:r>
              <a:rPr lang="en-US" dirty="0">
                <a:solidFill>
                  <a:schemeClr val="bg1"/>
                </a:solidFill>
              </a:rPr>
              <a:t>  Tech Titans</a:t>
            </a:r>
            <a:endParaRPr lang="en-US" sz="1800" dirty="0"/>
          </a:p>
          <a:p>
            <a:pPr marL="279400" indent="-279400">
              <a:spcAft>
                <a:spcPts val="1400"/>
              </a:spcAft>
              <a:buClr>
                <a:schemeClr val="accent3"/>
              </a:buClr>
              <a:buSzPct val="100000"/>
              <a:buChar char="•"/>
            </a:pPr>
            <a:r>
              <a:rPr lang="en-US" sz="1800" dirty="0">
                <a:solidFill>
                  <a:schemeClr val="bg1"/>
                </a:solidFill>
              </a:rPr>
              <a:t>Team Members – Arunmozhivarman Poorani, Dharshini S, Gouri S </a:t>
            </a:r>
            <a:r>
              <a:rPr lang="en-US" sz="1800" dirty="0" err="1">
                <a:solidFill>
                  <a:schemeClr val="bg1"/>
                </a:solidFill>
              </a:rPr>
              <a:t>Retnakaran</a:t>
            </a:r>
            <a:r>
              <a:rPr lang="en-US" sz="1800" dirty="0">
                <a:solidFill>
                  <a:schemeClr val="bg1"/>
                </a:solidFill>
              </a:rPr>
              <a:t>, Abinaya P</a:t>
            </a:r>
            <a:endParaRPr lang="en-US" sz="1800" dirty="0"/>
          </a:p>
          <a:p>
            <a:pPr marL="279400" indent="-279400">
              <a:spcAft>
                <a:spcPts val="1400"/>
              </a:spcAft>
              <a:buClr>
                <a:schemeClr val="accent3"/>
              </a:buClr>
              <a:buSzPct val="100000"/>
              <a:buChar char="•"/>
            </a:pPr>
            <a:r>
              <a:rPr lang="en-US" sz="1800" dirty="0">
                <a:solidFill>
                  <a:schemeClr val="bg1"/>
                </a:solidFill>
              </a:rPr>
              <a:t>Selected Domain – #5</a:t>
            </a:r>
            <a:endParaRPr lang="en-US" sz="1800" dirty="0"/>
          </a:p>
          <a:p>
            <a:pPr marL="279400" indent="-279400">
              <a:spcAft>
                <a:spcPts val="1400"/>
              </a:spcAft>
              <a:buClr>
                <a:schemeClr val="accent3"/>
              </a:buClr>
              <a:buSzPct val="100000"/>
              <a:buChar char="•"/>
            </a:pPr>
            <a:r>
              <a:rPr lang="en-US" sz="1800" dirty="0">
                <a:solidFill>
                  <a:schemeClr val="bg1"/>
                </a:solidFill>
              </a:rPr>
              <a:t>Problem Statement – Detection of Pesticides and Insecticides in crops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Detection of pesticides in food </a:t>
            </a:r>
            <a:r>
              <a:rPr lang="en-US" dirty="0"/>
              <a:t>c</a:t>
            </a:r>
            <a:r>
              <a:rPr lang="en-US" sz="2400" b="1" kern="0" spc="100" dirty="0">
                <a:solidFill>
                  <a:schemeClr val="tx2"/>
                </a:solidFill>
                <a:latin typeface="Cambria" pitchFamily="34" charset="0"/>
                <a:ea typeface="Cambria" pitchFamily="34" charset="-122"/>
                <a:cs typeface="Cambria" pitchFamily="34" charset="-120"/>
              </a:rPr>
              <a:t>rops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Explain the problem in your domain simply, in your own words</a:t>
            </a:r>
            <a:endParaRPr lang="en-US" sz="1800"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exactly needs to be solved?</a:t>
            </a:r>
          </a:p>
          <a:p>
            <a:pPr>
              <a:spcAft>
                <a:spcPts val="1000"/>
              </a:spcAft>
              <a:buClr>
                <a:schemeClr val="accent1"/>
              </a:buClr>
              <a:buSzPct val="100000"/>
            </a:pPr>
            <a:r>
              <a:rPr lang="en-US" dirty="0"/>
              <a:t>	Food samples may contain pesticide residues exceeding safe limits. Excessive or improper use of pesticides and insecticides can contaminate crops, potentially causing health problems and contributing to soil degradation and environmental pollution.</a:t>
            </a:r>
            <a:endParaRPr lang="en-US" sz="1800" dirty="0">
              <a:solidFill>
                <a:schemeClr val="tx1"/>
              </a:solidFill>
            </a:endParaRPr>
          </a:p>
          <a:p>
            <a:pPr marL="285750" indent="-285750">
              <a:spcAft>
                <a:spcPts val="1000"/>
              </a:spcAft>
              <a:buClr>
                <a:schemeClr val="accent1"/>
              </a:buClr>
              <a:buSzPct val="100000"/>
              <a:buFont typeface="Arial" panose="020B0604020202020204" pitchFamily="34" charset="0"/>
              <a:buChar char="•"/>
            </a:pPr>
            <a:r>
              <a:rPr lang="en-US" sz="1800" dirty="0">
                <a:solidFill>
                  <a:schemeClr val="tx1"/>
                </a:solidFill>
              </a:rPr>
              <a:t>Why is it important right now?</a:t>
            </a:r>
          </a:p>
          <a:p>
            <a:pPr>
              <a:spcAft>
                <a:spcPts val="1000"/>
              </a:spcAft>
              <a:buClr>
                <a:schemeClr val="accent1"/>
              </a:buClr>
              <a:buSzPct val="100000"/>
            </a:pPr>
            <a:r>
              <a:rPr lang="en-US" dirty="0"/>
              <a:t>	To prevent long-term health risks and maintain food safety, it is essential to ensure that pesticide residues in food remain within safe and approved limits. This will help protect public health and reduce the risks associated with long-term pesticide exposure.</a:t>
            </a:r>
            <a:endParaRPr lang="en-US" sz="1800" dirty="0">
              <a:solidFill>
                <a:schemeClr val="tx1"/>
              </a:solidFill>
            </a:endParaRPr>
          </a:p>
          <a:p>
            <a:pPr>
              <a:spcAft>
                <a:spcPts val="1000"/>
              </a:spcAft>
              <a:buClr>
                <a:schemeClr val="accent1"/>
              </a:buClr>
              <a:buSzPct val="100000"/>
            </a:pPr>
            <a:r>
              <a:rPr lang="en-US" dirty="0"/>
              <a:t>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Target users, stakeholders, beneficiaries</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a:spcAft>
                <a:spcPts val="1000"/>
              </a:spcAft>
              <a:buClr>
                <a:schemeClr val="accent1"/>
              </a:buClr>
              <a:buSzPct val="100000"/>
            </a:pPr>
            <a:r>
              <a:rPr lang="en-US" dirty="0"/>
              <a:t>              Farmers are the primary target , they can the use this to find pesticide’s level in their crops. So that they ensure that their crop’s pesticides level are within the safety limit.</a:t>
            </a:r>
            <a:endParaRPr lang="en-US" sz="1800" dirty="0"/>
          </a:p>
          <a:p>
            <a:pPr marL="279400" indent="-279400">
              <a:spcAft>
                <a:spcPts val="1000"/>
              </a:spcAft>
              <a:buClr>
                <a:schemeClr val="accent1"/>
              </a:buClr>
              <a:buSzPct val="100000"/>
              <a:buChar char="•"/>
            </a:pPr>
            <a:r>
              <a:rPr lang="en-US" sz="1800" dirty="0">
                <a:solidFill>
                  <a:schemeClr val="tx1"/>
                </a:solidFill>
              </a:rPr>
              <a:t>Secondary stakeholders: </a:t>
            </a:r>
          </a:p>
          <a:p>
            <a:pPr>
              <a:spcAft>
                <a:spcPts val="1000"/>
              </a:spcAft>
              <a:buClr>
                <a:schemeClr val="accent1"/>
              </a:buClr>
              <a:buSzPct val="100000"/>
            </a:pPr>
            <a:r>
              <a:rPr lang="en-US" dirty="0"/>
              <a:t>	Secondary stakeholders will be the public people as they are the consumers.</a:t>
            </a:r>
            <a:endParaRPr lang="en-US" sz="1800" dirty="0"/>
          </a:p>
          <a:p>
            <a:pPr marL="279400" indent="-279400">
              <a:spcAft>
                <a:spcPts val="1000"/>
              </a:spcAft>
              <a:buClr>
                <a:schemeClr val="accent1"/>
              </a:buClr>
              <a:buSzPct val="100000"/>
              <a:buChar char="•"/>
            </a:pPr>
            <a:r>
              <a:rPr lang="en-US" sz="1800" dirty="0">
                <a:solidFill>
                  <a:schemeClr val="tx1"/>
                </a:solidFill>
              </a:rPr>
              <a:t>Who benefits if the problem is solved?</a:t>
            </a:r>
          </a:p>
          <a:p>
            <a:pPr>
              <a:spcAft>
                <a:spcPts val="1000"/>
              </a:spcAft>
              <a:buClr>
                <a:schemeClr val="accent1"/>
              </a:buClr>
              <a:buSzPct val="100000"/>
            </a:pPr>
            <a:r>
              <a:rPr lang="en-US" dirty="0"/>
              <a:t>	Common people are benefited if the problem is solved.</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548640"/>
            <a:ext cx="1627632" cy="530352"/>
          </a:xfrm>
          <a:prstGeom prst="rect">
            <a:avLst/>
          </a:prstGeom>
          <a:noFill/>
          <a:ln/>
        </p:spPr>
        <p:txBody>
          <a:bodyPr wrap="square" lIns="0" tIns="0" rIns="0" bIns="0" rtlCol="0" anchor="ctr">
            <a:normAutofit fontScale="25000" lnSpcReduction="20000"/>
          </a:bodyPr>
          <a:lstStyle/>
          <a:p>
            <a:pPr marL="0" indent="0">
              <a:buNone/>
            </a:pPr>
            <a:r>
              <a:rPr lang="en-US" sz="900" b="1" kern="0" spc="300" dirty="0">
                <a:solidFill>
                  <a:schemeClr val="accent5"/>
                </a:solidFill>
              </a:rPr>
              <a:t>TEAM</a:t>
            </a:r>
            <a:endParaRPr lang="en-US" sz="900" dirty="0"/>
          </a:p>
          <a:p>
            <a:pPr marL="0" indent="0">
              <a:buNone/>
            </a:pPr>
            <a:r>
              <a:rPr lang="en-US" sz="5600" b="1" dirty="0">
                <a:solidFill>
                  <a:schemeClr val="accent1"/>
                </a:solidFill>
              </a:rPr>
              <a:t>Tech Titans</a:t>
            </a:r>
          </a:p>
          <a:p>
            <a:pPr marL="0" indent="0">
              <a:buNone/>
            </a:pPr>
            <a:endParaRPr lang="en-US" sz="5600" b="1" dirty="0">
              <a:solidFill>
                <a:schemeClr val="accent1"/>
              </a:solidFill>
            </a:endParaRPr>
          </a:p>
          <a:p>
            <a:pPr marL="0" indent="0">
              <a:buNone/>
            </a:pPr>
            <a:endParaRPr lang="en-US" sz="5600" b="1" dirty="0">
              <a:solidFill>
                <a:schemeClr val="accent1"/>
              </a:solidFill>
            </a:endParaRPr>
          </a:p>
          <a:p>
            <a:pPr marL="0" indent="0">
              <a:buNone/>
            </a:pPr>
            <a:endParaRPr lang="en-US" sz="5600" b="1" dirty="0">
              <a:solidFill>
                <a:schemeClr val="accent1"/>
              </a:solidFill>
            </a:endParaRPr>
          </a:p>
          <a:p>
            <a:pPr marL="0" indent="0">
              <a:buNone/>
            </a:pPr>
            <a:endParaRPr lang="en-US" sz="5600" b="1" dirty="0">
              <a:solidFill>
                <a:schemeClr val="accent1"/>
              </a:solidFill>
            </a:endParaRPr>
          </a:p>
          <a:p>
            <a:pPr marL="0" indent="0">
              <a:buNone/>
            </a:pPr>
            <a:endParaRPr lang="en-US" sz="5600" b="1" dirty="0">
              <a:solidFill>
                <a:schemeClr val="accent1"/>
              </a:solidFill>
            </a:endParaRPr>
          </a:p>
          <a:p>
            <a:pPr marL="0" indent="0">
              <a:buNone/>
            </a:pPr>
            <a:endParaRPr lang="en-US" sz="5600" b="1" dirty="0">
              <a:solidFill>
                <a:schemeClr val="accent1"/>
              </a:solidFill>
            </a:endParaRPr>
          </a:p>
          <a:p>
            <a:r>
              <a:rPr lang="en-US" sz="6400" b="1" kern="0" spc="300" dirty="0">
                <a:solidFill>
                  <a:schemeClr val="accent5"/>
                </a:solidFill>
              </a:rPr>
              <a:t>TEAM</a:t>
            </a:r>
            <a:endParaRPr lang="en-US" sz="6400" dirty="0"/>
          </a:p>
          <a:p>
            <a:r>
              <a:rPr lang="en-US" sz="6400" b="1" dirty="0">
                <a:solidFill>
                  <a:schemeClr val="accent1"/>
                </a:solidFill>
              </a:rPr>
              <a:t>Tech Titans</a:t>
            </a:r>
            <a:endParaRPr lang="en-US" sz="6400" dirty="0"/>
          </a:p>
          <a:p>
            <a:pPr marL="0" indent="0">
              <a:buNone/>
            </a:pPr>
            <a:endParaRPr lang="en-US" sz="6400" b="1" dirty="0">
              <a:solidFill>
                <a:schemeClr val="accent1"/>
              </a:solidFill>
            </a:endParaRPr>
          </a:p>
          <a:p>
            <a:pPr marL="0" indent="0">
              <a:buNone/>
            </a:pPr>
            <a:endParaRPr lang="en-US" sz="5600" b="1" dirty="0">
              <a:solidFill>
                <a:schemeClr val="accent1"/>
              </a:solidFill>
            </a:endParaRPr>
          </a:p>
          <a:p>
            <a:pPr marL="0" indent="0">
              <a:buNone/>
            </a:pPr>
            <a:endParaRPr lang="en-US" sz="5600" b="1" dirty="0">
              <a:solidFill>
                <a:schemeClr val="accent1"/>
              </a:solidFill>
            </a:endParaRPr>
          </a:p>
          <a:p>
            <a:endParaRPr lang="en-US" sz="5600" dirty="0"/>
          </a:p>
          <a:p>
            <a:endParaRPr lang="en-US" sz="5600" dirty="0"/>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1500" b="1" dirty="0">
              <a:solidFill>
                <a:schemeClr val="accent1"/>
              </a:solidFill>
            </a:endParaRPr>
          </a:p>
          <a:p>
            <a:pPr marL="0" indent="0">
              <a:buNone/>
            </a:pP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0185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Existing scenario, background and how things work today</a:t>
            </a:r>
            <a:endParaRPr lang="en-US" sz="1800" dirty="0"/>
          </a:p>
        </p:txBody>
      </p:sp>
      <p:sp>
        <p:nvSpPr>
          <p:cNvPr id="10" name="Prompts"/>
          <p:cNvSpPr txBox="1"/>
          <p:nvPr/>
        </p:nvSpPr>
        <p:spPr>
          <a:xfrm>
            <a:off x="868680" y="1920240"/>
            <a:ext cx="10424160" cy="18745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a:t>
            </a:r>
            <a:endParaRPr lang="en-US" sz="1800" dirty="0"/>
          </a:p>
          <a:p>
            <a:pPr>
              <a:spcAft>
                <a:spcPts val="1000"/>
              </a:spcAft>
              <a:buClr>
                <a:schemeClr val="accent1"/>
              </a:buClr>
              <a:buSzPct val="100000"/>
            </a:pPr>
            <a:r>
              <a:rPr lang="en-US" sz="1800" dirty="0"/>
              <a:t>	</a:t>
            </a:r>
            <a:r>
              <a:rPr lang="en-US" dirty="0"/>
              <a:t>Pesticides and insecticides are widely used in agriculture to protect crops from pests and diseases. However, excessive or improper use can leave harmful chemical residues on crops. Currently, these residues are mainly detected using laboratory testing methods that require specialized equipment, trained personnel, and time. Farmers have limited access to affordable and portable testing systems for on-field detection. Therefore, a simple and low-cost detection system is needed to support safer agricultural practice.</a:t>
            </a:r>
            <a:endParaRPr lang="en-US" sz="1800" dirty="0"/>
          </a:p>
          <a:p>
            <a:pPr marL="285750" indent="-285750">
              <a:buFont typeface="Arial" panose="020B0604020202020204" pitchFamily="34" charset="0"/>
              <a:buChar char="•"/>
            </a:pPr>
            <a:r>
              <a:rPr lang="en-US" sz="1800" dirty="0">
                <a:solidFill>
                  <a:schemeClr val="tx1"/>
                </a:solidFill>
              </a:rPr>
              <a:t>Current workflow, step by step:</a:t>
            </a:r>
          </a:p>
          <a:p>
            <a:r>
              <a:rPr lang="en-IN" dirty="0"/>
              <a:t>The steps followed by the government:</a:t>
            </a:r>
          </a:p>
          <a:p>
            <a:r>
              <a:rPr lang="en-IN" dirty="0"/>
              <a:t> 	The government approves which pesticides can be used on which crops and species the dose and the interval time with a set residue limit. Food safety officers collect samples and analysis in labs with instruments such as GC-MS/MS and LC-MS/MS.</a:t>
            </a:r>
          </a:p>
          <a:p>
            <a:pPr marL="279400" indent="-279400">
              <a:spcAft>
                <a:spcPts val="1000"/>
              </a:spcAft>
              <a:buClr>
                <a:schemeClr val="accent1"/>
              </a:buClr>
              <a:buSzPct val="100000"/>
              <a:buChar char="•"/>
            </a:pPr>
            <a:endParaRPr lang="en-US" sz="1800" dirty="0">
              <a:solidFill>
                <a:schemeClr val="tx1"/>
              </a:solidFill>
            </a:endParaRPr>
          </a:p>
          <a:p>
            <a:pPr>
              <a:spcAft>
                <a:spcPts val="1000"/>
              </a:spcAft>
              <a:buClr>
                <a:schemeClr val="accent1"/>
              </a:buClr>
              <a:buSzPct val="100000"/>
            </a:pPr>
            <a:r>
              <a:rPr lang="en-US" dirty="0"/>
              <a:t>	</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Main difficulties, bottlenecks, root causes and consequences</a:t>
            </a:r>
            <a:endParaRPr lang="en-US" sz="1800" dirty="0"/>
          </a:p>
        </p:txBody>
      </p:sp>
      <p:sp>
        <p:nvSpPr>
          <p:cNvPr id="10" name="Prompts"/>
          <p:cNvSpPr txBox="1"/>
          <p:nvPr/>
        </p:nvSpPr>
        <p:spPr>
          <a:xfrm>
            <a:off x="868680" y="1858975"/>
            <a:ext cx="10424160" cy="1935785"/>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a:t>
            </a:r>
          </a:p>
          <a:p>
            <a:pPr>
              <a:spcAft>
                <a:spcPts val="1000"/>
              </a:spcAft>
              <a:buClr>
                <a:schemeClr val="accent1"/>
              </a:buClr>
              <a:buSzPct val="100000"/>
            </a:pPr>
            <a:r>
              <a:rPr lang="en-US" dirty="0"/>
              <a:t> 	</a:t>
            </a:r>
            <a:r>
              <a:rPr lang="en-US" sz="1600" dirty="0"/>
              <a:t>The biggest bottlenecks in pesticide detection are cost, speed, and reliability. Lab tests are expensive, slow, and need trained experts, while each pesticide has different chemical properties that make universal detection difficult. Environmental factors like temperature and humidity can distort sensor readings, and the toughest challenge is building a portable, low-cost device that works accurately in real farm conditions.</a:t>
            </a:r>
          </a:p>
          <a:p>
            <a:pPr marL="279400" indent="-279400">
              <a:spcAft>
                <a:spcPts val="1000"/>
              </a:spcAft>
              <a:buClr>
                <a:schemeClr val="accent1"/>
              </a:buClr>
              <a:buSzPct val="100000"/>
              <a:buChar char="•"/>
            </a:pPr>
            <a:r>
              <a:rPr lang="en-US" sz="1800" dirty="0">
                <a:solidFill>
                  <a:schemeClr val="tx1"/>
                </a:solidFill>
              </a:rPr>
              <a:t>Root causes behind them</a:t>
            </a:r>
            <a:r>
              <a:rPr lang="en-US" dirty="0"/>
              <a:t>:</a:t>
            </a:r>
          </a:p>
          <a:p>
            <a:pPr>
              <a:spcAft>
                <a:spcPts val="1000"/>
              </a:spcAft>
              <a:buClr>
                <a:schemeClr val="accent1"/>
              </a:buClr>
              <a:buSzPct val="100000"/>
            </a:pPr>
            <a:r>
              <a:rPr lang="en-US" sz="1600" dirty="0"/>
              <a:t>	The main root causes are the high cost of laboratory testing and limited access to testing facilities in rural areas. Detecting multiple pesticide residues at low concentrations requires specialized equipment and trained personnel. The lack of affordable, portable, and accurate detection systems makes real-time, on-field pesticide screening difficult.</a:t>
            </a:r>
          </a:p>
          <a:p>
            <a:pPr marL="279400" indent="-279400">
              <a:spcAft>
                <a:spcPts val="1000"/>
              </a:spcAft>
              <a:buClr>
                <a:schemeClr val="accent1"/>
              </a:buClr>
              <a:buSzPct val="100000"/>
              <a:buChar char="•"/>
            </a:pPr>
            <a:r>
              <a:rPr lang="en-US" sz="1800" dirty="0">
                <a:solidFill>
                  <a:schemeClr val="tx1"/>
                </a:solidFill>
              </a:rPr>
              <a:t>Consequences of leaving them unsolved:</a:t>
            </a:r>
          </a:p>
          <a:p>
            <a:pPr>
              <a:spcAft>
                <a:spcPts val="1000"/>
              </a:spcAft>
              <a:buClr>
                <a:schemeClr val="accent1"/>
              </a:buClr>
              <a:buSzPct val="100000"/>
            </a:pPr>
            <a:r>
              <a:rPr lang="en-US" dirty="0"/>
              <a:t>	</a:t>
            </a:r>
            <a:r>
              <a:rPr lang="en-IN" sz="1600" dirty="0"/>
              <a:t>If these problems remain unsolved, pesticide residues may go undetected in crops, increasing potential risks to human health and food safety. Excessive pesticide contamination can also harm the environment and affect soil and water quality. Farmers may face financial losses, and consumers may lose confidence in agricultural products.</a:t>
            </a:r>
            <a:endParaRPr lang="en-US" sz="1600" dirty="0">
              <a:solidFill>
                <a:schemeClr val="tx1"/>
              </a:solidFill>
            </a:endParaRPr>
          </a:p>
          <a:p>
            <a:pPr>
              <a:spcAft>
                <a:spcPts val="1000"/>
              </a:spcAft>
              <a:buClr>
                <a:schemeClr val="accent1"/>
              </a:buClr>
              <a:buSzPct val="100000"/>
            </a:pPr>
            <a:r>
              <a:rPr lang="en-US" dirty="0"/>
              <a:t>	</a:t>
            </a:r>
            <a:endParaRPr lang="en-US" sz="1800" dirty="0">
              <a:solidFill>
                <a:schemeClr val="tx1"/>
              </a:solidFill>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already being done, and where it falls short</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methods, systems or alternatives:</a:t>
            </a:r>
          </a:p>
          <a:p>
            <a:pPr>
              <a:spcAft>
                <a:spcPts val="1000"/>
              </a:spcAft>
              <a:buClr>
                <a:schemeClr val="accent1"/>
              </a:buClr>
              <a:buSzPct val="100000"/>
            </a:pPr>
            <a:r>
              <a:rPr lang="en-US" dirty="0"/>
              <a:t>	</a:t>
            </a:r>
            <a:r>
              <a:rPr lang="en-US" sz="1600" dirty="0"/>
              <a:t>Current methods mainly rely on laboratory testing, chemical test kits, and portable sensors to detect pesticide residues in crops. However, a potential project innovation is a portable, crop-scanning device that checks multiple points on a plant and gives a visual or sound alert when further testing may be needed. The novelty would need to be validated through research, as similar portable and sensor-based systems already exist.</a:t>
            </a:r>
          </a:p>
          <a:p>
            <a:pPr marL="285750" indent="-285750">
              <a:spcAft>
                <a:spcPts val="1000"/>
              </a:spcAft>
              <a:buClr>
                <a:schemeClr val="accent1"/>
              </a:buClr>
              <a:buSzPct val="100000"/>
              <a:buFont typeface="Arial" panose="020B0604020202020204" pitchFamily="34" charset="0"/>
              <a:buChar char="•"/>
            </a:pPr>
            <a:r>
              <a:rPr lang="en-US" sz="1800" dirty="0">
                <a:solidFill>
                  <a:schemeClr val="tx1"/>
                </a:solidFill>
              </a:rPr>
              <a:t>Limitations of each:</a:t>
            </a:r>
          </a:p>
          <a:p>
            <a:pPr>
              <a:spcAft>
                <a:spcPts val="1000"/>
              </a:spcAft>
              <a:buClr>
                <a:schemeClr val="accent1"/>
              </a:buClr>
              <a:buSzPct val="100000"/>
            </a:pPr>
            <a:r>
              <a:rPr lang="en-US" dirty="0"/>
              <a:t>	</a:t>
            </a:r>
            <a:r>
              <a:rPr lang="en-IN" sz="1600" dirty="0"/>
              <a:t>Laboratory testing is expensive, time-consuming, and requires specialized equipment and trained person. Portable detection devices may have limited accuracy and may not detect all types of pesticide residues. Environmental conditions can affect sensor performance, while testing multiple pesticides often requires different detection methods.</a:t>
            </a:r>
            <a:endParaRPr lang="en-US" sz="1600" dirty="0"/>
          </a:p>
          <a:p>
            <a:pPr marL="279400" indent="-279400">
              <a:spcAft>
                <a:spcPts val="1000"/>
              </a:spcAft>
              <a:buClr>
                <a:schemeClr val="accent1"/>
              </a:buClr>
              <a:buSzPct val="100000"/>
              <a:buChar char="•"/>
            </a:pPr>
            <a:r>
              <a:rPr lang="en-US" sz="1800" dirty="0">
                <a:solidFill>
                  <a:schemeClr val="tx1"/>
                </a:solidFill>
              </a:rPr>
              <a:t>The gap they leave open (Key Challenges):</a:t>
            </a:r>
          </a:p>
          <a:p>
            <a:pPr>
              <a:spcAft>
                <a:spcPts val="1000"/>
              </a:spcAft>
              <a:buClr>
                <a:schemeClr val="accent1"/>
              </a:buClr>
              <a:buSzPct val="100000"/>
            </a:pPr>
            <a:r>
              <a:rPr lang="en-US" dirty="0"/>
              <a:t>	</a:t>
            </a:r>
            <a:r>
              <a:rPr lang="en-US" sz="1600" dirty="0"/>
              <a:t>Existing methods lack an affordable, portable, and reliable solution for on-field pesticide residue detection. Many systems cannot detect multiple pesticide types using a single device. The key challenge is to develop a low-cost, easy-to-use screening system that provides quick results and helps identify crop samples requiring further laboratory testing.</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Resources required to solve the problem</a:t>
            </a:r>
            <a:endParaRPr lang="en-US" sz="1800" dirty="0"/>
          </a:p>
        </p:txBody>
      </p:sp>
      <p:sp>
        <p:nvSpPr>
          <p:cNvPr id="10" name="Prompts"/>
          <p:cNvSpPr txBox="1"/>
          <p:nvPr/>
        </p:nvSpPr>
        <p:spPr>
          <a:xfrm>
            <a:off x="1170432" y="19202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a:t>
            </a:r>
          </a:p>
          <a:p>
            <a:r>
              <a:rPr lang="en-IN" sz="1600" dirty="0"/>
              <a:t>Microcontroller (ESP32/Arduino): Controls the entire system.</a:t>
            </a:r>
          </a:p>
          <a:p>
            <a:r>
              <a:rPr lang="en-IN" sz="1600" dirty="0"/>
              <a:t>Chemical sensor: Detects specific pesticide-related chemical indicators.</a:t>
            </a:r>
          </a:p>
          <a:p>
            <a:r>
              <a:rPr lang="en-IN" sz="1600" dirty="0"/>
              <a:t>Optical sensor: Helps </a:t>
            </a:r>
            <a:r>
              <a:rPr lang="en-IN" sz="1600" dirty="0" err="1"/>
              <a:t>analyze</a:t>
            </a:r>
            <a:r>
              <a:rPr lang="en-IN" sz="1600" dirty="0"/>
              <a:t> changes in the crop sample.</a:t>
            </a:r>
          </a:p>
          <a:p>
            <a:r>
              <a:rPr lang="en-IN" sz="1600" dirty="0"/>
              <a:t>Buzzer: Provides an alert when a detection threshold is reached.</a:t>
            </a:r>
          </a:p>
          <a:p>
            <a:r>
              <a:rPr lang="en-IN" sz="1600" dirty="0"/>
              <a:t>LCD/OLED display: Displays the sensor readings and warning messages.</a:t>
            </a:r>
          </a:p>
          <a:p>
            <a:r>
              <a:rPr lang="en-IN" sz="1600" dirty="0"/>
              <a:t>Battery and power supply: Powers the portable device.</a:t>
            </a:r>
          </a:p>
          <a:p>
            <a:r>
              <a:rPr lang="en-IN" sz="1600" dirty="0"/>
              <a:t>Wheels and chassis: Enable the device to move through agricultural fields.</a:t>
            </a:r>
          </a:p>
          <a:p>
            <a:pPr marL="285750" indent="-285750">
              <a:buFont typeface="Arial" panose="020B0604020202020204" pitchFamily="34" charset="0"/>
              <a:buChar char="•"/>
            </a:pPr>
            <a:r>
              <a:rPr lang="en-IN" dirty="0"/>
              <a:t>Software Requirements:</a:t>
            </a:r>
          </a:p>
          <a:p>
            <a:r>
              <a:rPr lang="en-US" sz="1600" dirty="0"/>
              <a:t>Arduino IDE: To write and upload the microcontroller program.</a:t>
            </a:r>
          </a:p>
          <a:p>
            <a:r>
              <a:rPr lang="en-US" sz="1600" dirty="0"/>
              <a:t>Embedded C/C++: To program the ESP32 or Arduino.</a:t>
            </a:r>
          </a:p>
          <a:p>
            <a:r>
              <a:rPr lang="en-US" sz="1600" dirty="0"/>
              <a:t>Sensor interfacing libraries: To collect readings from the sensors.</a:t>
            </a:r>
          </a:p>
          <a:p>
            <a:r>
              <a:rPr lang="en-US" sz="1600" dirty="0"/>
              <a:t>Data processing: To analyze sensor readings and compare them with predefined thresholds.</a:t>
            </a:r>
          </a:p>
          <a:p>
            <a:r>
              <a:rPr lang="en-US" sz="1600" dirty="0"/>
              <a:t>Alert system software: To trigger buzzer sounds and display warning messages.</a:t>
            </a:r>
          </a:p>
          <a:p>
            <a:r>
              <a:rPr lang="en-US" sz="1600" dirty="0"/>
              <a:t>Serial Monitor: To view and test sensor readings during development.</a:t>
            </a:r>
            <a:endParaRPr lang="en-IN" sz="1600" dirty="0"/>
          </a:p>
          <a:p>
            <a:pPr>
              <a:spcAft>
                <a:spcPts val="1000"/>
              </a:spcAft>
              <a:buClr>
                <a:schemeClr val="accent1"/>
              </a:buClr>
              <a:buSzPct val="100000"/>
            </a:pPr>
            <a:endParaRPr lang="en-US" sz="1600" dirty="0">
              <a:solidFill>
                <a:schemeClr val="tx1"/>
              </a:solidFill>
            </a:endParaRP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a:solidFill>
                  <a:schemeClr val="accent1"/>
                </a:solidFill>
              </a:rPr>
              <a:t>Tech Titans</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a:t>
            </a:r>
          </a:p>
          <a:p>
            <a:pPr>
              <a:spcAft>
                <a:spcPts val="1000"/>
              </a:spcAft>
              <a:buClr>
                <a:schemeClr val="accent1"/>
              </a:buClr>
              <a:buSzPct val="100000"/>
            </a:pPr>
            <a:r>
              <a:rPr lang="en-US" dirty="0"/>
              <a:t>	To make a better way of detecting the amount of  pesticides present in crops before the crops are harvested and sold</a:t>
            </a:r>
            <a:endParaRPr lang="en-US" sz="1800" dirty="0"/>
          </a:p>
          <a:p>
            <a:pPr marL="279400" indent="-279400">
              <a:spcAft>
                <a:spcPts val="1000"/>
              </a:spcAft>
              <a:buClr>
                <a:schemeClr val="accent1"/>
              </a:buClr>
              <a:buSzPct val="100000"/>
              <a:buChar char="•"/>
            </a:pPr>
            <a:r>
              <a:rPr lang="en-US" sz="1800" dirty="0">
                <a:solidFill>
                  <a:schemeClr val="tx1"/>
                </a:solidFill>
              </a:rPr>
              <a:t>What you want to improve:</a:t>
            </a:r>
          </a:p>
          <a:p>
            <a:pPr>
              <a:spcAft>
                <a:spcPts val="1000"/>
              </a:spcAft>
              <a:buClr>
                <a:schemeClr val="accent1"/>
              </a:buClr>
              <a:buSzPct val="100000"/>
            </a:pPr>
            <a:r>
              <a:rPr lang="en-US" dirty="0"/>
              <a:t>	We aim to improve pesticide detection by developing a low-cost, portable, and easy-to-use device that provides quick alerts in agricultural fields. The goal is to improve accessibility, reduce testing time, and make preliminary crop screening more convenient for farmers.</a:t>
            </a:r>
            <a:endParaRPr lang="en-US" sz="1800" dirty="0"/>
          </a:p>
          <a:p>
            <a:pPr marL="279400" indent="-279400">
              <a:spcAft>
                <a:spcPts val="1000"/>
              </a:spcAft>
              <a:buClr>
                <a:schemeClr val="accent1"/>
              </a:buClr>
              <a:buSzPct val="100000"/>
              <a:buChar char="•"/>
            </a:pPr>
            <a:r>
              <a:rPr lang="en-US" sz="1800" dirty="0">
                <a:solidFill>
                  <a:schemeClr val="tx1"/>
                </a:solidFill>
              </a:rPr>
              <a:t>What successful improvement should you achieve:</a:t>
            </a:r>
          </a:p>
          <a:p>
            <a:pPr>
              <a:spcAft>
                <a:spcPts val="1000"/>
              </a:spcAft>
              <a:buClr>
                <a:schemeClr val="accent1"/>
              </a:buClr>
              <a:buSzPct val="100000"/>
            </a:pPr>
            <a:r>
              <a:rPr lang="en-US" dirty="0"/>
              <a:t>	The successful improvement should be a low-cost, portable, and user-friendly device that quickly screens crops for specific pesticide residues and provides clear warning alerts. It should improve accessibility, reduce initial screening time, and help farmers identify samples that require further laboratory testing.</a:t>
            </a:r>
            <a:endParaRPr lang="en-US" sz="1800" dirty="0">
              <a:solidFill>
                <a:schemeClr val="tx1"/>
              </a:solidFill>
            </a:endParaRPr>
          </a:p>
          <a:p>
            <a:pPr marL="279400" indent="-279400">
              <a:spcAft>
                <a:spcPts val="1000"/>
              </a:spcAft>
              <a:buClr>
                <a:schemeClr val="accent1"/>
              </a:buClr>
              <a:buSzPct val="100000"/>
              <a:buChar char="•"/>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Your Team Name</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name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1249</Words>
  <Application>Microsoft Office PowerPoint</Application>
  <PresentationFormat>Widescreen</PresentationFormat>
  <Paragraphs>149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Genesis Ideathon</vt:lpstr>
      <vt:lpstr>PowerPoint Presentation</vt:lpstr>
      <vt:lpstr>Detection of pesticides in food crops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Dharshini S</cp:lastModifiedBy>
  <cp:revision>2</cp:revision>
  <dcterms:created xsi:type="dcterms:W3CDTF">2026-10-07T15:27:40Z</dcterms:created>
  <dcterms:modified xsi:type="dcterms:W3CDTF">2026-10-09T18:24:20Z</dcterms:modified>
</cp:coreProperties>
</file>